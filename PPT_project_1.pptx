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17" r:id="rId5"/>
    <p:sldId id="307" r:id="rId6"/>
    <p:sldId id="308" r:id="rId7"/>
    <p:sldId id="309" r:id="rId8"/>
    <p:sldId id="318" r:id="rId9"/>
    <p:sldId id="319" r:id="rId10"/>
    <p:sldId id="320" r:id="rId11"/>
    <p:sldId id="263" r:id="rId12"/>
    <p:sldId id="31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33351"/>
            <a:ext cx="12021670" cy="6590178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. Shamela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Mini-Project -1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Insights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     : Data science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        : DS-C-WD-E-B144</a:t>
            </a:r>
            <a:br>
              <a:rPr lang="en-IN" dirty="0"/>
            </a:b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AEC184-A9DB-C77F-4DA8-3C6B70CCA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584" y="3343275"/>
            <a:ext cx="12192000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100117"/>
              </p:ext>
            </p:extLst>
          </p:nvPr>
        </p:nvGraphicFramePr>
        <p:xfrm>
          <a:off x="6869113" y="1143000"/>
          <a:ext cx="4751387" cy="4972050"/>
        </p:xfrm>
        <a:graphic>
          <a:graphicData uri="http://schemas.openxmlformats.org/drawingml/2006/table">
            <a:tbl>
              <a:tblPr firstRow="1" bandRow="1"/>
              <a:tblGrid>
                <a:gridCol w="4751387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85079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Overview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64053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&amp; Technologies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8576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studies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4233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Charts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929093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Insights &amp; Recommendations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digital payment dynamics, user engagement, and insurance trends in India using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Pulse dataset 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Project:</a:t>
            </a:r>
            <a:br>
              <a:rPr lang="en-IN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1"/>
            <a:ext cx="7391400" cy="39711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 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trends over time.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top performing states and districts.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user engagement patterns.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brand dominance among users.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insurance adoption trends across regions.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growth opportunities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E2A8-304C-4A6D-2735-64D102A6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B177-43C7-DBF3-C0E9-9C8A397386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 for Data cleaning and processing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for Querying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for data visualization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for statistical visualization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 for interactive charts </a:t>
            </a: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Dashboard creation.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9BF32-8C67-7D35-58E2-82AE927EA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4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6FA4-CAF0-D067-E0DD-F12AC2F3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7BED-DB1F-9DFF-2ED1-9DA3941C30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Decoding Transaction Dynamics on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Device Dominance and User Engagement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Insurance Penetration and Growth Potential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Transaction Analysis for Market Expansion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Engagement and Growth Strategy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CF52-D2F3-6980-82EF-B135CAB11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9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2859-C522-651E-EF1A-E3760B8B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571500"/>
            <a:ext cx="7534656" cy="12858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1.Decoding Transaction Dynamics 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FD4A-3B61-F270-FF8E-6E1FAB9DB7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Understand transaction behaviour across years, states, and transaction types.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Transactions Over Years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Transaction Amount Over Years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10 States by Transaction Amount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Type Distribution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States Transaction Trend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4540C-6084-6388-4B6D-DF7AF40C7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70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D4ACAE-02F4-DC14-BDCB-C26AA01C0C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25" t="3839" r="125" b="-3839"/>
          <a:stretch>
            <a:fillRect/>
          </a:stretch>
        </p:blipFill>
        <p:spPr bwMode="auto">
          <a:xfrm>
            <a:off x="528002" y="170815"/>
            <a:ext cx="4049395" cy="2249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AEAF9B-9E41-6A48-69B2-BD13B4B18E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58" t="2728"/>
          <a:stretch>
            <a:fillRect/>
          </a:stretch>
        </p:blipFill>
        <p:spPr bwMode="auto">
          <a:xfrm>
            <a:off x="7969567" y="4437380"/>
            <a:ext cx="3987165" cy="2174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2CE671-C2B8-A88D-5A40-02A8A0120F2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77" r="997"/>
          <a:stretch>
            <a:fillRect/>
          </a:stretch>
        </p:blipFill>
        <p:spPr bwMode="auto">
          <a:xfrm>
            <a:off x="4152899" y="2459319"/>
            <a:ext cx="3868511" cy="19143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9B739C-82F6-C100-154B-3EB5419BA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925" y="123224"/>
            <a:ext cx="4073207" cy="2242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30C893-88B7-EDA3-4091-56B63E56F13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63" t="3490"/>
          <a:stretch>
            <a:fillRect/>
          </a:stretch>
        </p:blipFill>
        <p:spPr bwMode="auto">
          <a:xfrm>
            <a:off x="478472" y="4419917"/>
            <a:ext cx="4205605" cy="22472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&amp; Recommendations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have grown steadily, indicating increasing adoption of digital payments.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value increased significantly each year.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preferred platform for daily payments and money transfers.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growth varies across states, highlighting regional differences in adoption.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experience in top transaction categories.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marketing and partnerships in top-performing states.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premium services for frequent high-value users.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E3F8-7971-0E74-5099-E95692A71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Dominance and User Engagement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87178-6D48-6F63-1230-A86840E6C7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Identify device brands used by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Device Brands by Registered Users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Brands by User Percentage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Brand Usage Growth Over Year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Device Brand in Each State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.Top 10 Device Brands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5EC9-C9C8-635E-A60D-C7034D4CE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2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72F2-69E2-0D15-18C5-332688C1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2CEE9-A9E0-7611-8B30-28F5725E4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3841E-FDCB-F2A2-A169-EC88F17C3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070" y="4633595"/>
            <a:ext cx="4175760" cy="2224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9F8C62-17A8-2125-CAAD-7DF662268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2676943"/>
            <a:ext cx="3746817" cy="1904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1BDFB-C10E-F4B5-2A01-DE40FECE7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" y="4498022"/>
            <a:ext cx="4175760" cy="2224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0D952-26D8-431B-E356-0F66B5079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230" y="285750"/>
            <a:ext cx="4218940" cy="220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15389-0029-17B8-4120-E5D1693DE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" y="408622"/>
            <a:ext cx="4240530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70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FE2A-BB30-B534-93BC-49F32521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50259"/>
            <a:ext cx="10360152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94F4-F87E-4CF7-7FB9-50F337E8C3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379771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like Xiaomi, Samsung, and Vivo have the highest registered users.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growth of smartphone usage and mobile payment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states show preference for different smartphone brands.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381E0-46AA-DCF1-E414-A0E8C0E418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2570" y="2352877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testing, updates, and UI optimization on these major brands for better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major brands for promotions and pre-installed app integrations.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4916E-73EE-64FF-ABA3-A6EB8B66B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35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D933-0798-0D13-E252-C3DAE712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Insurance Penetration and Growth Potential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F146-B0C0-BFD1-66BD-4A8292CCC5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 of insurance transactions.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Growth Over Years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States by Insurance Policies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insurance adoption states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States by Insurance Value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Adoption Trend by Quarter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8D248-6D0E-EAC2-4824-59C874144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5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5FA9-1704-B388-53F5-75746B3C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08F8C-0A28-AA98-5B52-373B3FCA1F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5D81D-E518-F3BE-7AF6-B5A051F6D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397" y="2300605"/>
            <a:ext cx="4053205" cy="2256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2D9F5-1A95-6CC1-5D46-E00FD5C2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956" y="97192"/>
            <a:ext cx="3790315" cy="2252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62AEAE-C9B1-C82C-0603-A611F842D7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861"/>
          <a:stretch>
            <a:fillRect/>
          </a:stretch>
        </p:blipFill>
        <p:spPr bwMode="auto">
          <a:xfrm>
            <a:off x="281360" y="4360750"/>
            <a:ext cx="3794125" cy="2224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AA94C-6A61-B0A9-7720-4E80B22F9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04" y="161253"/>
            <a:ext cx="4010025" cy="2411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578298-A764-76CB-23D6-F12B15EFA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909" y="4348050"/>
            <a:ext cx="3973830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47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0F0D-B847-3347-C558-BDB66049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66EF-92E2-1E90-32A0-4E716AD340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7506" y="2317018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transactions have increased gradually.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states show strong insurance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states show very low adoption, indicating untapped markets.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states contribute higher insurance value, indicating premium policy purchases.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701A4-41D4-9FCB-15E6-C489C27B71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56359" y="2308053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awareness through campaigns and simplify the onboarding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partnerships with insurers in these high-performing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premium insurance products in these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campaigns during peak periods to maximize conversions.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52A38-9780-4CEC-85EC-B8C457362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8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1B27-68BE-8C72-46AC-1C0F4CDF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Transaction Analysis for Market Expansion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5303-EBC2-D2FA-D3ED-AD9A571D30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Identify districts with high and low transaction performance.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Districts by Transaction Value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Performing Districts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transaction growth trend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Value per District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Transaction Count but Lower Value Districts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80FE2-426F-603F-E450-4B312E7E4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23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5EAB-3D10-78D0-17AB-25B3CDFE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105DB-DF50-448E-5CF6-3916586FBA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84EA8-E01E-1D56-AE49-0D0E56171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505" y="2115634"/>
            <a:ext cx="3843599" cy="2110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E580AE-AE7E-2E38-8951-E005CDB6F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01"/>
          <a:stretch>
            <a:fillRect/>
          </a:stretch>
        </p:blipFill>
        <p:spPr bwMode="auto">
          <a:xfrm>
            <a:off x="299140" y="4455806"/>
            <a:ext cx="4012884" cy="20842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5E9B47-9BEC-0EDB-30FC-135D26216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05" y="256204"/>
            <a:ext cx="3757445" cy="208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61304-627B-6F9B-CE63-6E45556CCF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53"/>
          <a:stretch>
            <a:fillRect/>
          </a:stretch>
        </p:blipFill>
        <p:spPr bwMode="auto">
          <a:xfrm>
            <a:off x="158320" y="363893"/>
            <a:ext cx="3588927" cy="19081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061538-2EB4-CAB7-A0F3-40F3388A20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640"/>
          <a:stretch>
            <a:fillRect/>
          </a:stretch>
        </p:blipFill>
        <p:spPr bwMode="auto">
          <a:xfrm>
            <a:off x="7627751" y="4333762"/>
            <a:ext cx="4359275" cy="2278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79425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8FCE-2929-E225-2B13-08CB6F4A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520F9-6753-A6D5-2149-3A6CE98BD1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41294" y="2406665"/>
            <a:ext cx="4576953" cy="38770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districts contribute significantly to total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districts have low transaction activity due to limited awareness.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fluctuate across quarters, showing seasonal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districts show higher average values indicating higher spending capacity.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A90AE-8E69-009C-2716-1AE312CA3A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4641" y="2343912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marketing campaigns during high-demand periods.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digital literacy and infrastructure awareness in these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micro-payment offers and cashback for small transactions.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3DBB7-2647-E946-2AC2-93C27056C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65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E321-3611-43A5-32A7-AD71DE17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Engagement and Growth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D399-E574-1860-605C-6DCF348396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engagement based on registrations and app usage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Highest User Engagement</a:t>
            </a: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 with Highest User Concentration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Districts with Highest User Engagement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Growth Trend by Year and Quarter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Low Engagement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E7564-891D-C7F7-B048-6A6A4E8FE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2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6EB2-FF25-3A40-8DF1-C97BF24B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5C377-F777-F234-E1FF-166896838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F0D24-F725-DE89-5FBC-EB36AAB1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851" y="237571"/>
            <a:ext cx="3520889" cy="2211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D76631-E034-8577-476C-5799406D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242" y="4401671"/>
            <a:ext cx="4073933" cy="2205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D1CBD1-AA11-9D86-3170-1274E9FE8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15" y="4333327"/>
            <a:ext cx="4003209" cy="2142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23064-3A9E-3DAC-D8A0-2F07AAF08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2082421"/>
            <a:ext cx="3882950" cy="2154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061EC6-3F2C-97A2-EB94-54E699CFE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12" y="301494"/>
            <a:ext cx="3455670" cy="218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8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DDC1-C3B8-20D8-4AA7-70DC5894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3" y="833718"/>
            <a:ext cx="10360152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88943-F60C-F184-69D2-635C9EFBD4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2330" y="2308053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states show high app usage relative to user 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dense user concentration.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base is steadily increasing over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925BC-3427-8437-5AEE-B4FC4E5FF5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29465" y="2343912"/>
            <a:ext cx="4576953" cy="38770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these regions to launch new features and beta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these areas for localized promotions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engagement through offers, notifications, and awareness campaigns. merchant onboarding.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55FDE-A527-75FD-6F7C-A95027FAF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87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{0C402B84-B1FD-413F-B4C6-9E443DDDD701}TF1ed9553b-00c4-4092-846a-c8f7f2908f3beecd942f_win32-8e33096c3cfc</Template>
  <TotalTime>104</TotalTime>
  <Words>769</Words>
  <Application>Microsoft Office PowerPoint</Application>
  <PresentationFormat>Widescreen</PresentationFormat>
  <Paragraphs>133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K. . Shamela Mini-Project -1 Project Title : Phonepe Transaction Insights Course       : Data science Batch         : DS-C-WD-E-B144 </vt:lpstr>
      <vt:lpstr>agenda</vt:lpstr>
      <vt:lpstr>To analyze digital payment dynamics, user engagement, and insurance trends in India using the PhonePe Pulse dataset  </vt:lpstr>
      <vt:lpstr>Objectives of the Project: </vt:lpstr>
      <vt:lpstr>Tools and Technologies</vt:lpstr>
      <vt:lpstr>Case studies</vt:lpstr>
      <vt:lpstr>1.Decoding Transaction Dynamics on PhonePe </vt:lpstr>
      <vt:lpstr>PowerPoint Presentation</vt:lpstr>
      <vt:lpstr> Insights &amp; Recommendations</vt:lpstr>
      <vt:lpstr>  2.Device Dominance and User Engagement Analysis </vt:lpstr>
      <vt:lpstr>PowerPoint Presentation</vt:lpstr>
      <vt:lpstr>Insights &amp; Recommendations</vt:lpstr>
      <vt:lpstr>3. Insurance Penetration and Growth Potential Analysis </vt:lpstr>
      <vt:lpstr>PowerPoint Presentation</vt:lpstr>
      <vt:lpstr>Insights &amp; Recommendations</vt:lpstr>
      <vt:lpstr>4. Transaction Analysis for Market Expansion </vt:lpstr>
      <vt:lpstr>PowerPoint Presentation</vt:lpstr>
      <vt:lpstr>Insights &amp; Recommendations</vt:lpstr>
      <vt:lpstr>5. User Engagement and Growth Strategy</vt:lpstr>
      <vt:lpstr>PowerPoint Presentation</vt:lpstr>
      <vt:lpstr>Insights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shamela K</dc:creator>
  <cp:lastModifiedBy>shamela K</cp:lastModifiedBy>
  <cp:revision>3</cp:revision>
  <dcterms:created xsi:type="dcterms:W3CDTF">2026-04-01T17:22:00Z</dcterms:created>
  <dcterms:modified xsi:type="dcterms:W3CDTF">2026-04-02T04:37:06Z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